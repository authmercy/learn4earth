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ECOLEARNAI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CAF50"/>
                </a:solidFill>
                <a:latin typeface="Calibri"/>
              </a:defRPr>
            </a:pPr>
            <a:r>
              <a:t>Plateforme d'Apprentissage en Ligne Intelligente et Ecologique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Parcours adaptatifs generes par IA  |  Gamification et progression  |  Suivi d'empreinte carbone  |  Paiements securises  |  Conformite RGPD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E9E9E"/>
                </a:solidFill>
                <a:latin typeface="Calibri"/>
              </a:defRPr>
            </a:pPr>
            <a:r>
              <a:t>Version 1.3.0  -  Fevrier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E9E9E"/>
                </a:solidFill>
                <a:latin typeface="Calibri"/>
              </a:defRPr>
            </a:pPr>
            <a:r>
              <a:t>FastAPI  |  Flask  |  MySQL NDB Cluster  |  Redis  |  OpenAI GPT  |  Docker  |  Prometheus  |  Grafana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  <a:latin typeface="Calibri"/>
              </a:defRPr>
            </a:pPr>
            <a:r>
              <a:t>Presente par : Equipe EcoLearn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904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Pitch Startup et Demo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476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Demo technique : Inscription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Demo technique : Paiement +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Contexte et problematique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192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Vision et objectifs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764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336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Architecture applicative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6908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Schema base de donnees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1480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Relations et flux de donnees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6052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Fonctionnalites 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4904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202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9476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Securite et conformite RGPD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377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4048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Paiements et abonnements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620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Cache Redis et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2918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3192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Monitoring et observabilite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490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7764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Backup et haute disponibilite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062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2336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Methodologie Agile / DevOps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634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6908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Stack technologique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2064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51480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Feuille de 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Pitch Startup et Demo Live (20%)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Vision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035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Calibri"/>
              </a:defRPr>
            </a:pPr>
            <a:r>
              <a:t>Elevator Pitch (30 secondes)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"EcoLearn AI est une plateforme e-learning qui personnalise</a:t>
            </a:r>
            <a:br/>
            <a:r>
              <a:t>chaque cours grace a l'IA, mesure l'impact ecologique du</a:t>
            </a:r>
            <a:br/>
            <a:r>
              <a:t>numerique, et securise les donnees selon le RGPD.</a:t>
            </a:r>
            <a:br/>
            <a:r>
              <a:t>Notre cible : etudiants et professionnels en Afrique et Europe."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Proposition de valeur unique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0332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Personnalisation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749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Contenu adapte en temps reel par OpenAI GPT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87368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33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Eco-responsable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33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Suivi carbone + compensation (plantation d'arbres)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71416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17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17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XP, niveaux, streaks, badges pour la retention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55464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01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RGPD natif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9011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Chiffrement AES-128, consentement, droit a l'oubli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2852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Paiement Afrique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2852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Carte Visa/MC (Umoja) + Mobile Money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Demonstration technique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5303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8836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88366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Inscription RGPD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8836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Formulaire + OTP SMS/Email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18836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POST /api/auth/register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267712"/>
            <a:ext cx="530352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2257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32257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Verification OTP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3225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Calibri"/>
              </a:defRPr>
            </a:pPr>
            <a:r>
              <a:t>Double canal (SMS + Email)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3225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5E20"/>
                </a:solidFill>
                <a:latin typeface="Calibri"/>
              </a:defRPr>
            </a:pPr>
            <a:r>
              <a:t>POST /api/auth/verify-sms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706624"/>
            <a:ext cx="5303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76148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7614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Connexion JWT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761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Token 30 min, bcrypt hash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761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POST /api/auth/login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145536"/>
            <a:ext cx="530352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20040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2004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Creer un parcours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200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Calibri"/>
              </a:defRPr>
            </a:pPr>
            <a:r>
              <a:t>Sujet, difficulte, sessions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3200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5E20"/>
                </a:solidFill>
                <a:latin typeface="Calibri"/>
              </a:defRPr>
            </a:pPr>
            <a:r>
              <a:t>POST /api/learning/paths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584448"/>
            <a:ext cx="5303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36393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6393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Session IA live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6393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Contenu genere par GPT en direct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6393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POST /api/learning/sessions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023360"/>
            <a:ext cx="530352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07822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0782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Terminer session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0782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Calibri"/>
              </a:defRPr>
            </a:pPr>
            <a:r>
              <a:t>XP + streak + carbone +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40782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5E20"/>
                </a:solidFill>
                <a:latin typeface="Calibri"/>
              </a:defRPr>
            </a:pPr>
            <a:r>
              <a:t>PUT /sessions/{id}/complete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462272"/>
            <a:ext cx="5303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45171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5171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517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Stats, progression, empreinte CO2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45171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GET /api/dashboard/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901184"/>
            <a:ext cx="530352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4956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49560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Paiement carte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9560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Calibri"/>
              </a:defRPr>
            </a:pPr>
            <a:r>
              <a:t>Redirect Umoja -&gt; callback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60" y="49560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5E20"/>
                </a:solidFill>
                <a:latin typeface="Calibri"/>
              </a:defRPr>
            </a:pPr>
            <a:r>
              <a:t>POST /api/subscriptions/subscribe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340096"/>
            <a:ext cx="5303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5394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53949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Admin KPIs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394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Revenus, users, plans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53949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GET /api/admin/dashboard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5779008"/>
            <a:ext cx="530352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583387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58338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5833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Calibri"/>
              </a:defRPr>
            </a:pPr>
            <a:r>
              <a:t>Health check, Redis, MySQL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66960" y="5833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B5E20"/>
                </a:solidFill>
                <a:latin typeface="Calibri"/>
              </a:defRPr>
            </a:pPr>
            <a:r>
              <a:t>GET /api/monitoring/health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6263640"/>
            <a:ext cx="53035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0" y="6309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Swagger : http://206.189.56.166:8000/docs  |  Grafana : :3000  |  Prometheus : :9090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DEMO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Inscription RGPD + Generation IA en direct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33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POST /api/auth/register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760720" cy="24505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5331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POST http://206.189.56.166:8000/api/auth/register 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5448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  <a:r>
              <a:t>  -H "Content-Type: application/json" \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5564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'{"email":"demo@ecolearnai.com", "password":"Demo@2026",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5681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     "full_name":"Jean Demo", "phone_number":"+243812345678",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5798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     "gdpr_consent":true, "gender":"M"}'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35915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84048" y="256032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201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6148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"id": "d739ea6d-dd4d-4553-8cfb-...",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6265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  "email": "demo@ecolearnai.com",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6382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"is_verified": false,  "sms_sent": true,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36499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"email_sent": true,  "message": "Code OTP envoye" 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033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POST /api/auth/verify-sms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98448"/>
            <a:ext cx="5760720" cy="12618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35331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POST http://206.189.56.166:8000/api/auth/verify-sms 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55448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'{"email":"demo@ecolearnai.com", "code":"482917"}'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75564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27648" y="195681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200 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15798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"message": "Compte verifie avec succes !" 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9748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7249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POST /api/auth/login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990088"/>
            <a:ext cx="5760720" cy="12618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04495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POST http://206.189.56.166:8000/api/auth/login \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24612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'{"email":"demo@ecolearnai.com","password":"Demo@2026"}'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44728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327648" y="364845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200 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84962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"access_token": "eyJhbGciOi...KOARPY1WH", "token_type": "bearer" 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9593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POST /api/learning/paths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24528"/>
            <a:ext cx="5760720" cy="17190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427939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POST http://206.189.56.166:8000/api/learning/paths \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48056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  <a:r>
              <a:t>  -H "Authorization: Bearer eyJhbGciOi..." \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468172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'{"title":"Apprendre Python", "subject":"Python",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88289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     "difficulty":"debutant", "total_sessions":5}'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08406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384048" y="528523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201 Created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548640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"id": "4beacfc1-49bb-4c9e-...",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68756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  "title": "Apprendre Python", "progress_percent": 0.0 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43484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462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POST /api/learning/sessions  [IA GPT]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727448"/>
            <a:ext cx="5760720" cy="18105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78231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POST http://206.189.56.166:8000/api/learning/sessions \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498348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  <a:r>
              <a:t>  -H "Authorization: Bearer eyJhbGciOi..." \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18464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'{"learning_path_id":"4beacfc1-...","title":"Intro Python"}'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538581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6327648" y="558698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201 Created  (Backend -&gt; Flask AI -&gt; OpenAI GPT)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578815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"id": "3792833e-5687-...", "session_number": 1,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7648" y="598932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"content": "# Session 1/5 : Introduction a Python\n\n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7648" y="619048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 ## Objectif\nComprendre les bases de Python...\n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639165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 ## Exercice pratique\nCreez un programme qui..." 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126480"/>
            <a:ext cx="50292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1722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Flux : Register -&gt; Verify OTP -&gt; Login -&gt; Create Path -&gt; Start Session (IA GPT)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DEMO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Completion + Gamification + Paiement +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33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PUT /sessions/{id}/complete  [Gamification]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760720" cy="26334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5331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PUT http://206.189.56.166:8000/api/learning/ 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5448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  sessions/3792833e-.../complete \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5564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  <a:r>
              <a:t>  -H "Authorization: Bearer eyJhbGciOi..." 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5681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'{"score": 85, "duration_minutes": 25}'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5798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84048" y="235915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200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6032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"message": "Session terminee avec succes !",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6148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  "progression":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6265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  "xp_earned": 85, "total_xp": 85, "level": "debutant",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6382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  "streak": 1, "streak_continued": true,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36499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  "new_badges": [{"name":"Premiere session","xp_reward":25}]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56616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  }, "carbon_footprint":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76732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  "energy_kwh": 0.083, "carbon_kg": 0.039 } 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0332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POST /api/subscriptions/subscribe  [Umoja Visa]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98448"/>
            <a:ext cx="5760720" cy="19933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35331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-X POST http://206.189.56.166:8000/api/subscriptions/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55448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  subscribe -H "Authorization: Bearer eyJhbG..." 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175564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-d '{"plan":"annuel","payment_method":"carte_bancaire"}'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195681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327648" y="215798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200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35915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"subscription_id": "a1b2c3d4-...",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256032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"payment_url": "https://card.gofreshpay.com/pay/...",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76148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  "message": "Redirect vers page paiement Umoja" 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96265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327648" y="316382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-&gt; Redirect navigateur -&gt; Saisie Visa -&gt; Callback HMAC -&gt; 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47472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5021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GET /api/dashboard/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767328"/>
            <a:ext cx="5760720" cy="13533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382219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http://206.189.56.166:8000/api/dashboard/ \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02336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  <a:r>
              <a:t>  -H "Authorization: Bearer eyJhbG..."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22452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327648" y="442569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"user": "Jean Demo", "level": "debutant", "total_xp": 110,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62686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"streak": 1, "paths": 1, "sessions_completed": 1,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482803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"total_carbon_kg": 0.039, "trees_planted": 0 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11480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1422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GET /api/monitoring/health  [Public]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407408"/>
            <a:ext cx="5760720" cy="15361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46227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http://206.189.56.166:8000/api/monitoring/health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466344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384048" y="486460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HTTP 200 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506577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"overall": "healthy",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526694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"backend": {"status":"up","version":"1.3.0"},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546811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"database": {"status":"up","host":"159.89.13.54"},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566928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"redis": {"status":"up","memory":"2.1MB"},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587044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1FA8C"/>
                </a:solidFill>
                <a:latin typeface="Consolas"/>
              </a:defRPr>
            </a:pPr>
            <a:r>
              <a:t>  "ai_service": {"status":"up"} 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303520"/>
            <a:ext cx="5760720" cy="292608"/>
          </a:xfrm>
          <a:prstGeom prst="rect">
            <a:avLst/>
          </a:prstGeom>
          <a:solidFill>
            <a:srgbClr val="30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53309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E9FD"/>
                </a:solidFill>
                <a:latin typeface="Consolas"/>
              </a:defRPr>
            </a:pPr>
            <a:r>
              <a:t>$ curl - GET /api/admin/dashboard  [Admin only]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5596128"/>
            <a:ext cx="5760720" cy="107899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5650992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0FA7B"/>
                </a:solidFill>
                <a:latin typeface="Consolas"/>
              </a:defRPr>
            </a:pPr>
            <a:r>
              <a:t>$ curl http://206.189.56.166:8000/api/admin/dashboard \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5852160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  <a:r>
              <a:t>  -H "Authorization: Bearer ADMIN_TOKEN"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27648" y="6053328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8F8F2"/>
                </a:solidFill>
                <a:latin typeface="Consolas"/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6327648" y="6254496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E9FD"/>
                </a:solidFill>
                <a:latin typeface="Consolas"/>
              </a:defRPr>
            </a:pPr>
            <a:r>
              <a:t>{ "total_users": 42, "active_subscriptions": 18,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6455664"/>
            <a:ext cx="5541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79C6"/>
                </a:solidFill>
                <a:latin typeface="Consolas"/>
              </a:defRPr>
            </a:pPr>
            <a:r>
              <a:t>  "total_revenue": 1259.82, "total_sessions": 156 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Complete -&gt; XP+Streak+Carbon+Badges  |  Subscribe -&gt; Umoja Visa/MC  |  Dashboard -&gt; Stats  |  Monitoring -&gt; Health + Redis + 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Contexte et Problematique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5E20"/>
                </a:solidFill>
                <a:latin typeface="Calibri"/>
              </a:defRPr>
            </a:pPr>
            <a:r>
              <a:t>Les defis actuels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Le marche de l'e-learning atteint 400 milliards USD en 2026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Les plateformes existantes offrent un contenu generique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Pas de personnalisation en fonction du niveau reel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Aucune sensibilisation a l'impact ecologique du numerique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Les donnees personnelles sont rarement protegees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5E20"/>
                </a:solidFill>
                <a:latin typeface="Calibri"/>
              </a:defRPr>
            </a:pPr>
            <a:r>
              <a:t>Nos questions cles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Comment personnaliser l'apprentissage a grande echelle 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Comment mesurer et reduire l'empreinte carbone 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Comment garantir la protection des donnees (RGPD) 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Comment securiser les paiements en Afrique ?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Comment motiver les apprenants sur la duree 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5E20"/>
                </a:solidFill>
                <a:latin typeface="Calibri"/>
              </a:defRPr>
            </a:pPr>
            <a:r>
              <a:t>"EcoLearn AI repond a ces defis en combinant intelligence artificielle, gamification, suivi ecologique et securite des donnees dans une seule plateforme."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Vision et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5176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Apprentissage adaptatif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86000"/>
            <a:ext cx="173736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Parcours personnalises generes par IA (OpenAI GPT)</a:t>
            </a:r>
            <a:br/>
            <a:r>
              <a:t>adaptes au niveau, objectifs et preferences de chaque apprenant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65176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Impact ecologique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286000"/>
            <a:ext cx="173736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Calcul automatique de l'empreinte carbone de chaque session</a:t>
            </a:r>
            <a:br/>
            <a:r>
              <a:t>et plantation d'arbres compensatoires a chaque seuil atteint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65176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286000"/>
            <a:ext cx="173736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Systeme XP + niveaux (debutant -&gt; expert) + streaks</a:t>
            </a:r>
            <a:br/>
            <a:r>
              <a:t>+ badges/achievements pour maintenir la motivation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645920"/>
            <a:ext cx="2651760" cy="365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Securite RGPD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2286000"/>
            <a:ext cx="1737360" cy="274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Chiffrement AES-128 des donnees sensibles</a:t>
            </a:r>
            <a:br/>
            <a:r>
              <a:t>Consentement explicite, droit a l'oubli, portabilite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411480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642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Navigateur / Mobile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4114800" cy="5943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Nginx LB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9572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Load Balancer + Reverse Proxy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34640"/>
            <a:ext cx="411480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8803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272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API REST + Auth JWT + Cache Redis + Cron Backup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566160"/>
            <a:ext cx="411480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611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Flask AI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OpenAI GPT - Generation de contenu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297680"/>
            <a:ext cx="411480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3434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MySQL NDB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902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 Data Nodes + 2 Mgmt Nodes + Backup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029200"/>
            <a:ext cx="411480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074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Redis 7.2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218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Cache 256Mo + Rate Limiting + Anti brute-force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Services Externes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011680"/>
            <a:ext cx="4572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Umoja CardAPI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Paiement Visa/Mastercard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606040"/>
            <a:ext cx="4572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MGT-SMS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651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OTP + Notifications SMS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200400"/>
            <a:ext cx="4572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Gmail SMTP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246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Verification email + Alertes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794760"/>
            <a:ext cx="4572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840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OpenAI GPT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840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Generation contenu pedagogique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389120"/>
            <a:ext cx="4572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Prometheus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Collecte metriques (14 alertes)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983480"/>
            <a:ext cx="457200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5029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Grafana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029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Dashboards visuels temps reel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Applicative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Couches du Backend FastAPI (Stateless)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0352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Middlewares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CORS | Auth JWT | Rate Limiting | Prometheus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530352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 Routers (API)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auth | users | subscriptions | payments | learning</a:t>
            </a:r>
            <a:br/>
            <a:r>
              <a:t>carbon | dashboard | admin |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5303520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 Services (metier)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Payment | Progression | Carbon | Moko | SMS</a:t>
            </a:r>
            <a:br/>
            <a:r>
              <a:t>Email | Encryption | Cache (Redis) | Backup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5303520" cy="7772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 Models (ORM)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User | Subscription | Payment | SubscriptionPlan</a:t>
            </a:r>
            <a:br/>
            <a:r>
              <a:t>LearningPath | Session | Carbon | Compensation</a:t>
            </a:r>
            <a:br/>
            <a:r>
              <a:t>Achievement | UserAchievement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03520"/>
            <a:ext cx="5303520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Security &amp; Utils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JWT Auth | bcrypt Hash | RBAC | Fernet AES-128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263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16161"/>
                </a:solidFill>
                <a:latin typeface="Calibri"/>
              </a:defRPr>
            </a:pPr>
            <a:r>
              <a:t>SQLAlchemy / PyMySQL -&gt; MySQL 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Communication entre composants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828800"/>
            <a:ext cx="502920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883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Client -&gt; 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8836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HTTPS (443)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883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TLS 1.3 + Rate Limit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13432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368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Nginx -&gt;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3682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HTTP interne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368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Round Robin / Least Conn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798064"/>
            <a:ext cx="502920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Backend -&gt; MySQL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52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TCP (3306)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PyMySQL + pool_recycle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282696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Backend -&gt; 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3375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TCP (6379)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Connection pool (50 max)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767328"/>
            <a:ext cx="502920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Backend -&gt; Flask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8221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HTTP (5000)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POST /generate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251960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306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Backend -&gt; Umoja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3068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HTTPS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306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HMAC-SHA256 signature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736592"/>
            <a:ext cx="502920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Backend -&gt; MGT-SMS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7914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HTTPS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x-api-key header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5221224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Backend -&gt; Gmail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276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SMTPS (465)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App Password SSL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705856"/>
            <a:ext cx="5029200" cy="42062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Umoja -&gt; Backend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5760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HTTPS POST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Callback HMAC verifie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Schema de la Base de Donnees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MySQL 8.0 (NDB Cluster) - 10 tables - Serveur : 159.89.13.54  |  Backup : 159.89.13.55  |  Chiffrement Fernet sur 7 champs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09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745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38 colonnes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2194560" cy="18105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0756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2768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email : String(255)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780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phone_number : String(20)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6791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hashed_password : String(255)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full_name : String(255)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0815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7x encrypted_* : Text (Fernet)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2826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role : user | admin | super_admin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4838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total_xp, streak,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8503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gdpr_consent, is_verified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6916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1709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18745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10 colonnes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057400"/>
            <a:ext cx="2194560" cy="1408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9192" y="20756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9192" y="22768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2" y="24780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plan : String(50)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26791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price : Float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9192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is_active : Boolean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9192" y="30815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start_date, end_date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9192" y="32826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auto_renew : Boolean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6916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1709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18745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14 colonnes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057400"/>
            <a:ext cx="2194560" cy="18105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0756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22768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24780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subscription_id : UUID (FK)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26791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amount : Float, currency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payment_method : String(50)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10912" y="30815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status : pending | completed | failed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0912" y="32826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transaction_ref : UNIQUE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0912" y="34838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invoice_number : UNIQUE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0912" y="368503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moko_transaction_uuid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16916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1709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subscription_plans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18745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13 colonnes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2057400"/>
            <a:ext cx="2194560" cy="16093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20756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2" y="22768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code : String(50) UNIQUE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2632" y="24780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name : String(255)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2" y="26791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price : Float, currency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632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duration_days : Integer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2632" y="30815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is_active : Boolean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2632" y="32826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features : Text (JSON)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42632" y="34838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max_sessions_per_day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16916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1709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learning_paths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18745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12 colonnes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2057400"/>
            <a:ext cx="2194560" cy="16093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74352" y="20756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4352" y="22768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4352" y="24780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title : String(255)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74352" y="26791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subject : String(255)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74352" y="28803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difficulty : String(50)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74352" y="30815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total_sessions : Integer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74352" y="32826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progress_percent : Float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4352" y="34838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status : en_cours | termine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2062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2245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learning_sessions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43891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13 colonnes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572000"/>
            <a:ext cx="2194560" cy="18105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" y="4590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" y="47914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" y="49926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learning_path_id : UUID (FK)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7472" y="51937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title, content : 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72" y="53949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ai_prompt_used : Text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" y="5596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duration_minutes : Float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472" y="57972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score : Float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7472" y="59984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session_number : Integer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" y="619963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status : en_cours | termine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06040" y="42062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0" y="42245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carbon_footprints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51760" y="43891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9 colonnes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06040" y="4572000"/>
            <a:ext cx="2194560" cy="16093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679192" y="4590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79192" y="47914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79192" y="49926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session_id : UUID (FK, UNIQUE)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79192" y="51937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duration_minutes : Float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79192" y="53949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energy_kwh : Float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79192" y="5596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carbon_kg : Float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79192" y="57972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server_region : String(100)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79192" y="59984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carbon_factor : Float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37760" y="42062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83480" y="42245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eco_compensations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83480" y="43891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10 colonnes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4572000"/>
            <a:ext cx="2194560" cy="1408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10912" y="4590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10912" y="47914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10912" y="49926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trees_planted : Integer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10912" y="51937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co2_compensated_kg : Float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10912" y="53949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partner_name : String(255)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10912" y="5596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status : confirmed | pending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0912" y="57972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notes : Text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69480" y="42062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15200" y="42245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achievements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15200" y="43891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10 colonnes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269480" y="4572000"/>
            <a:ext cx="2194560" cy="16093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42632" y="4590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42632" y="47914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code : String(100) UNIQUE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42632" y="49926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name : String(255)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42632" y="51937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description : Text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2632" y="539496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category : String(50)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42632" y="559612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xp_reward : Integer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42632" y="579729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condition_type : String(100)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42632" y="599846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condition_value : Integer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01200" y="4206240"/>
            <a:ext cx="21945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646920" y="42245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user_achievements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46920" y="4389120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5E9"/>
                </a:solidFill>
                <a:latin typeface="Calibri"/>
              </a:defRPr>
            </a:pPr>
            <a:r>
              <a:t>4 colonnes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601200" y="4572000"/>
            <a:ext cx="2194560" cy="8046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74352" y="4590288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id : UUID (PK)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74352" y="4791456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user_id : UUID (FK -&gt; users)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74352" y="4992624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achievement_id : UUID (FK)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74352" y="5193792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16161"/>
                </a:solidFill>
                <a:latin typeface="Calibri"/>
              </a:defRPr>
            </a:pPr>
            <a:r>
              <a:t>unlocked_at : DateTime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Relations et Flux de Donnees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Relations entre entites (cardinalites)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28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288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abonnements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67128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128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2128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2128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paiements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9689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59689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5968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LearningPath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596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parcours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35224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809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9809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9809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LearningSession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98094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sessions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19272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64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3649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364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CarbonFootprint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36499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empreintes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03320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749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490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749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EcoCompensation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7490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compensations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87368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1330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13308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1330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UserAchievement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1330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utilisateur a 0..N badges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71416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1713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Subscription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1713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517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451713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abonnement a 1..N paiements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855464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90118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LearningPath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9011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9011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LearningSession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490118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parcours a 0..N sessions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23951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2852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LearningSession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28523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52852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CarbonFootprint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528523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Une session a 0..1 empreinte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623560"/>
            <a:ext cx="53035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669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Achievement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56692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1 -&gt; 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60320" y="5669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UserAchievement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56692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Un badge a 0..N deblocages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Flux de donnees principaux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1828800"/>
            <a:ext cx="5029200" cy="1463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Flux : Inscription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2423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1. Client -&gt; POST /api/auth/register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2679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2. Backend valide (Pydantic) + chiffre (Fernet)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0" y="29352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3. INSERT users (MySQL)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31912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4. Envoi OTP (MGT-SMS + Gmail en parallele)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447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5. Client -&gt; POST /api/auth/verify-sms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474720"/>
            <a:ext cx="5029200" cy="1463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0" y="3611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A1B9A"/>
                </a:solidFill>
                <a:latin typeface="Calibri"/>
              </a:defRPr>
            </a:pPr>
            <a:r>
              <a:t>Flux : Apprentissage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069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1. Client -&gt; POST /api/learning/sessions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4325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2. Backend -&gt; Flask AI -&gt; OpenAI GPT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45811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3. INSERT learning_sessions + contenu 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48371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4. Client -&gt; PUT /sessions/{id}/complete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0932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5. XP + Streak + Carbon + Badges + Level (atomique)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0" y="5257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Flux : Paiement carte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5715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1. Client -&gt; POST /api/subscriptions/subscribe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9710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2. INSERT subscription (pending) + payment (pending)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62270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3. Backend -&gt; Umoja API (HMAC) -&gt; payment_url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3680" y="64830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4. Umoja -&gt; POST /callback (HMAC) -&gt; completed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6739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5. UPDATE subscription (active) + SMS + Email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Fonctionnalites 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Inscription RGPD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Collecte conforme (consentement obligatoire)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Chiffrement Fernet (AES-128-CBC)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Verification double canal (SMS + Email)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Code OTP valable 10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Parcours Adaptatifs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10312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Creation de parcours personnalises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60604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Sessions generees par IA (OpenAI GPT)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10896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182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Progression automatique (XP, niveaux)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61188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685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Suivi par matiere et difficulte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Dashboard Interactif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10312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Progression pedagogique en temps reel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60604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Gamification : XP, streaks, badges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0896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182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Empreinte carbone personnelle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61188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685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Actions ecologiques (arbres plantes)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210312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1762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CRUD plans d'abonnement (prix, duree)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60604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Gestion utilisateurs (roles, statut)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310896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182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KPIs : revenus, utilisateurs, sessions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3611880"/>
            <a:ext cx="2743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685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Dashboard admin avec statistiques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Microservice Flask + OpenAI 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Modele : GPT-3.5-turbo (2000 tokens max)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Prompt contextuel adapte au profil de l'apprenant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Parametres : niveau, objectifs, preferences, matiere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Structure du contenu : objectif, explication, exemples, exercice, resume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Mode fallback automatique si l'API OpenAI est indisponible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Temperature : 0.7 (creativite equilibree)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Service isole (conteneur Docker dedie)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Flux de generation de contenu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48463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75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L'utilisateur demarre une 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487168"/>
            <a:ext cx="4846320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551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Calibri"/>
              </a:defRPr>
            </a:pPr>
            <a:r>
              <a:t>2. Le backend envoie le contexte au service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962656"/>
            <a:ext cx="48463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0266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Le prompt est construit avec le profil apprenant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438144"/>
            <a:ext cx="4846320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502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Calibri"/>
              </a:defRPr>
            </a:pPr>
            <a:r>
              <a:t>4. OpenAI GPT genere le contenu pedagogique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913632"/>
            <a:ext cx="48463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Le contenu structure est retourne au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389120"/>
            <a:ext cx="4846320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Calibri"/>
              </a:defRPr>
            </a:pPr>
            <a:r>
              <a:t>6. La session est creee avec le contenu genere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864608"/>
            <a:ext cx="484632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9286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7. XP, streak, carbone sont mis a jour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340096"/>
            <a:ext cx="4846320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404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5E20"/>
                </a:solidFill>
                <a:latin typeface="Calibri"/>
              </a:defRPr>
            </a:pPr>
            <a:r>
              <a:t>8. Badges verifies et debloques si necessaire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Securite et Conformite RGPD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Authentification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JWT Bearer Token (HS256)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Expiration : 30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Mot de passe : bcrypt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OTP double canal (SMS + Email)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Anti brute-force OTP (Redis)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47472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Chiffrement RGPD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Fernet (AES-128-CBC + HMAC-SHA256)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7 champs sensibles chiffres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  date naissance, nationalite, ID,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  adresse (4 champs)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Cle : variable d'environnement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47472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Droits Utilisateur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Art. 7 : Gestion des consentements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13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Art. 13-14 : Droit a l'information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Art. 15 : Droit d'acces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25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Art. 17 : Droit a l'effacement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Art. 20 : Droit a la portabilite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Controle d'acces par roles (RBAC)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63440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27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274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Acces a son profil, parcours, dashboard, paiements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66360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30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2303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Gestion plans, utilisateurs, paiements, monitoring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669280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33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super_admin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73328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  <a:latin typeface="Calibri"/>
              </a:defRPr>
            </a:pPr>
            <a:r>
              <a:t>Tous les droits admin + changement de roles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Paiements et Abonnements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Plans d'abonnement (configurables par admin)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73736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5E20"/>
                </a:solidFill>
                <a:latin typeface="Calibri"/>
              </a:defRPr>
            </a:pPr>
            <a:r>
              <a:t>Mensuel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9.99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30 jours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20240"/>
            <a:ext cx="173736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5E20"/>
                </a:solidFill>
                <a:latin typeface="Calibri"/>
              </a:defRPr>
            </a:pPr>
            <a:r>
              <a:t>Trimestriel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468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24.99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90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920240"/>
            <a:ext cx="173736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57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5E20"/>
                </a:solidFill>
                <a:latin typeface="Calibri"/>
              </a:defRPr>
            </a:pPr>
            <a:r>
              <a:t>Annuel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89.99 USD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16161"/>
                </a:solidFill>
                <a:latin typeface="Calibri"/>
              </a:defRPr>
            </a:pPr>
            <a:r>
              <a:t>365 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Methodes de paiement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920240"/>
            <a:ext cx="4846320" cy="13716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0574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Carte bancaire (Visa / Mastercard)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14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Via Umoja CardAPI (GoFreshPay)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7706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Redirection securisee vers page de paiement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0266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Callback HMAC-SHA256 pour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826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Notifications SMS + Email automatiques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566160"/>
            <a:ext cx="4846320" cy="10972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703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Mobile 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0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Integration directe pour l'Afrique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416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Activation instantanee de l'abonnement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72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Factures automatiques generees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Flux de paiement carte bancaire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1. Utilisateur choisit un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2. Backend cree un paiement 'pending'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3. Umoja genere une URL de paiement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4. Utilisateur paye sur la page securisee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5. Umoja envoie le callback au 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6. Backend active l'abonnement + facture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7. Notifications SMS + Email envoyees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Cache Redis et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5E20"/>
                </a:solidFill>
                <a:latin typeface="Calibri"/>
              </a:defRPr>
            </a:pPr>
            <a:r>
              <a:t>Configuration Redis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Redis 7.2 Alpine - 256 Mo de memoire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Politique d'eviction : allkeys-lru (Least Recently Used)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Persistence : AOF (sync chaque seconde) + Snapshots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Connection pool : 50 connexions max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Health check toutes les 30 secondes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Mode degrade : si Redis tombe, l'app continue sans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Strategie de cache (cles et TTL)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75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Plans d'abonnement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75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10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Catalogue des plans actifs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624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Dashboard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243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2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624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Statistiques globales KPIs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172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Dashboard utilisateur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72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3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172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Progression personnelle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721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Tentatives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721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15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721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Anti brute-force (max 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70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5100"/>
                </a:solidFill>
                <a:latin typeface="Calibri"/>
              </a:defRPr>
            </a:pPr>
            <a:r>
              <a:t>1 minute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270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60 requetes/min par 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Impact sur les performances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Calibri"/>
              </a:defRPr>
            </a:pPr>
            <a:r>
              <a:t>Dashboard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62828"/>
                </a:solidFill>
                <a:latin typeface="Calibri"/>
              </a:defRPr>
            </a:pPr>
            <a:r>
              <a:t>~500ms sans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~5ms avec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x100 plus rapide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Calibri"/>
              </a:defRPr>
            </a:pPr>
            <a:r>
              <a:t>Liste des plans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62828"/>
                </a:solidFill>
                <a:latin typeface="Calibri"/>
              </a:defRPr>
            </a:pPr>
            <a:r>
              <a:t>~100ms sans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~2ms avec 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x50 plus rapide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  <a:latin typeface="Calibri"/>
              </a:defRPr>
            </a:pPr>
            <a:r>
              <a:t>Dashboard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62828"/>
                </a:solidFill>
                <a:latin typeface="Calibri"/>
              </a:defRPr>
            </a:pPr>
            <a:r>
              <a:t>~300ms sans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~3ms avec cache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x100 plus rapide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Monitoring et Observabilite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Stack de monitoring (Docker Compose)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029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Prometheus :9090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84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Collecte metriques, scrape 15s, retention 30j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Grafana 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Dashboards visuels, 10 panneaux auto-provisionnes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5029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Node Exporter :9100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90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Metriques OS : CPU, RAM, Disque, Reseau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Redis Exporter :9121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Metriques Redis : memoire, hits, connexions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50292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95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MySQL Exporter :9104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95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Metriques MySQL : QPS, connexions, slow queries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50292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988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Calibri"/>
              </a:defRPr>
            </a:pPr>
            <a:r>
              <a:t>Backend /metrics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498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FastAPI Instrumentator (HTTP req/s, latence, erreurs)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14 regles d'alerte configurees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920240"/>
            <a:ext cx="1188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19659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BackendDown, RedisDown, MySQLDown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423160"/>
            <a:ext cx="11887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HighMemoryUsage (&gt;90%), DiskSpaceCritical (&gt;95%)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926080"/>
            <a:ext cx="118872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971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HighErrorRate (5xx &gt; 5%)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429000"/>
            <a:ext cx="118872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474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HighLatency (P95 &gt; 2s)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31920"/>
            <a:ext cx="118872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977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RedisHighMemory (&gt;85%)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34840"/>
            <a:ext cx="118872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480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MySQLHighConnections (&gt;80%)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937760"/>
            <a:ext cx="118872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983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MySQLSlowQueries (&gt;0.5/s)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440680"/>
            <a:ext cx="118872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HighCPUUsage (&gt;85%)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1206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5E20"/>
                </a:solidFill>
                <a:latin typeface="Calibri"/>
              </a:defRPr>
            </a:pPr>
            <a:r>
              <a:t>Endpoints API : /api/monitoring/health (public) | /system | /redis | /database | /backup | /cache/flush (admin)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Backup et Haute Disponibilite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5E20"/>
                </a:solidFill>
                <a:latin typeface="Calibri"/>
              </a:defRPr>
            </a:pPr>
            <a:r>
              <a:t>Replication cron quotidienne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APScheduler integre au backend FastAPI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Execution automatique chaque jour a 01:00 UTC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Replication complete : 10 tables, INSERT par lots de 500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Synchronisation du schema (CREATE TABLE IF NOT EXISTS)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Base de backup : ecolearnai_db_backup sur 159.89.13.55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Historique des 30 derniers backups en memoire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Alerte email automatique en cas d'echec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Statut consultable via GET /api/monitoring/backup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B5E20"/>
                </a:solidFill>
                <a:latin typeface="Calibri"/>
              </a:defRPr>
            </a:pPr>
            <a:r>
              <a:t>Haute disponibilite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MySQL NDB Cluster : 2 Data Nodes + 2 Management Nodes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Replication synchrone (NoOfReplicas=2)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Zero perte de donnees si 1 noeud tombe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 SQL Nodes en Active-Active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Redis : persistence AOF + Snapshots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Docker : restart: always sur tous les services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Health checks automatiques (Redis, MySQL, Backend)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Calibri"/>
              </a:defRPr>
            </a:pPr>
            <a:r>
              <a:t>En cas de perte de la base principale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1) Exporter depuis la base backup (mysqldump)  -&gt;  2) Restaurer sur le serveur principal  -&gt;  3) OU pointer le backend directement vers la base backup (changement de DATABASE_URL)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Methodologie Agile / DevOps (10%)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Organisation equipe et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Methodologie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Sprints de 2 semaines avec objectifs clairs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Daily standup (15 min) - avancement + blocages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352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Sprint Review : demo des fonctionnalites livrees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912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Sprint Retrospective : amelioration continue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472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Backlog priorise par valeur business (MoSCoW)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Definition of Done : code + tests + doc +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Workflow Git (GitFlow)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12801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976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976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Production stable, deployee sur le serveur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2801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develop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091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Integration continue des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74920"/>
            <a:ext cx="128016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206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feature/*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120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Branches par fonctionnalite (feature/auth, feature/payment)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86400"/>
            <a:ext cx="128016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32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hotfix/*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5321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Corrections urgentes en 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97880"/>
            <a:ext cx="128016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9436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release/*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9436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Preparation version (v1.0, v1.1, v1.3)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Pipeline DevOps et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Calibri"/>
              </a:defRPr>
            </a:pPr>
            <a:r>
              <a:t>Pipeline CI/CD (Docker + Compose)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1. git push -&gt; Declenchement automatique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6791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2. Build Docker image (backend + ai-service)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9352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3. Tests automatises (pytest + coverage)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1912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4. Analyse statique (linting, securite)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4472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5. Deploy sur serveur (docker compose up -d --build)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16161"/>
                </a:solidFill>
                <a:latin typeface="Calibri"/>
              </a:defRPr>
            </a:pPr>
            <a:r>
              <a:t>6. Health check automatique post-deploy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840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  <a:latin typeface="Calibri"/>
              </a:defRPr>
            </a:pPr>
            <a:r>
              <a:t>Documentation technique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251960"/>
            <a:ext cx="53035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2885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API_DOCUMENTATION.md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2885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2700+ lignes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28853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50 endpoints documentes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599432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6360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ARCHITECTURE.md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6360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786 lignes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63600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Architecture systeme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946904"/>
            <a:ext cx="53035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983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CURL_COMMANDS.md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500+ lignes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9834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Tous les curl de test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294376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5330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UML_CAMUNDA.md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1450+ lignes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53309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UML + BPMN Camunda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641848"/>
            <a:ext cx="53035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56784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.env.example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56784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567842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Variables d'environnement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989320"/>
            <a:ext cx="53035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60258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Swagger /docs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60258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Auto-genere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6025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OpenAPI 3.0 interactif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6336792"/>
            <a:ext cx="530352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63733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Calibri"/>
              </a:defRPr>
            </a:pPr>
            <a:r>
              <a:t>ReDoc /redoc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63733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Calibri"/>
              </a:defRPr>
            </a:pPr>
            <a:r>
              <a:t>Auto-genere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63733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16161"/>
                </a:solidFill>
                <a:latin typeface="Calibri"/>
              </a:defRPr>
            </a:pPr>
            <a:r>
              <a:t>Documentation lisible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Stack Technologique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Framework API REST async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SQLAlchemy 2.x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ORM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Validation de donnees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python-jose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Tokens 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passlib +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Hash mots de passe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cryptography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Chiffrement Fernet/AES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&amp; 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MySQL 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NDB Cluster (2+2+2)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Redis 7.2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Cache LRU 256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PyMySQL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Driver MySQL async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APScheduler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Cron backup quotidien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redis-py 5.0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Client Redis Python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IA &amp; 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Flask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Microservice 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OpenAI GPT-3.5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Generation de contenu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httpx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Client HTTP async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Umoja CardAPI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Paiement carte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MGT-SMS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Envoi SMS/OTP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Gmail SMTP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Envoi emails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146304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DevOps &amp; Monitoring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2057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Orchestration 8 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Nginx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Load Balancer / Reverse Proxy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Prometheus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3008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Collecte metriques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Grafana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3483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Dashboards visuels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Node/Redis/MySQL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3959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Exporters metriques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Calibri"/>
              </a:defRPr>
            </a:pPr>
            <a:r>
              <a:t>psutil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Metriques systeme Python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SECTION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Feuille de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1 - Actuelle (v1.3)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Backend complet (FastAPI + 50 endpoints)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79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IA (OpenAI GPT-3.5 + fallback)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82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Paiements (Umoja + Mobile Money)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RGPD complet (chiffrement + droits)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Redis cache + Monitoring Prometheus/Grafana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90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MySQL NDB Cluster + Backup cron quotidien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463040"/>
            <a:ext cx="36576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2 - Q2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10312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176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Frontend React.js / Next.js (SSR)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60604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679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Application mobile (React Native)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10896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182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WebSocket pour notifications temps reel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61188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685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Redis Cluster (haute dispo cache)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11480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CI/CD pipeline (GitHub Actions)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61772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690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Tests automatises (pytest, coverage &gt; 80%)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463040"/>
            <a:ext cx="36576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3 - Q3-Q4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10312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2176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Apprentissage collaboratif (groupes)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60604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2679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Upgrade GPT-4 + fine-tuning educatif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310896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3182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Marketplace de cours crees par la communaute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61188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3685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Integration LMS (Moodle, Canvas)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411480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API publique pour partenaires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617720"/>
            <a:ext cx="3657600" cy="4389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690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Certification et diplomes numeriques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CAF50"/>
                </a:solidFill>
                <a:latin typeface="Calibri"/>
              </a:defRPr>
            </a:pPr>
            <a:r>
              <a:t>EcoLearn AI - Plateforme d'apprentissage intelligente et ecologique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API : http://206.189.56.166:8000/docs</a:t>
            </a:r>
            <a:br/>
            <a:r>
              <a:t>Grafana : http://206.189.56.166:3000</a:t>
            </a:r>
            <a:br/>
            <a:r>
              <a:t>Prometheus : http://206.189.56.166:9090</a:t>
            </a:r>
            <a:br/>
            <a:r>
              <a:t>ReDoc : http://206.189.56.166:8000/redoc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9E9E"/>
                </a:solidFill>
                <a:latin typeface="Calibri"/>
              </a:defRPr>
            </a:pPr>
            <a:r>
              <a:t>Version 1.3.0  |  Fevrier 2026  |  Equipe EcoLearn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